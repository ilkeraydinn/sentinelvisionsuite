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23E54"/>
    <a:srgbClr val="5C0000"/>
    <a:srgbClr val="EFCDD3"/>
    <a:srgbClr val="E6B0B9"/>
    <a:srgbClr val="26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rtuğrul Burak Mataracı" userId="b8c73fbb59d485cd" providerId="LiveId" clId="{D8346C63-190A-4B1F-BA00-627C763E0207}"/>
    <pc:docChg chg="modSld">
      <pc:chgData name="Ertuğrul Burak Mataracı" userId="b8c73fbb59d485cd" providerId="LiveId" clId="{D8346C63-190A-4B1F-BA00-627C763E0207}" dt="2026-05-13T09:01:18.291" v="17" actId="207"/>
      <pc:docMkLst>
        <pc:docMk/>
      </pc:docMkLst>
      <pc:sldChg chg="modSp mod">
        <pc:chgData name="Ertuğrul Burak Mataracı" userId="b8c73fbb59d485cd" providerId="LiveId" clId="{D8346C63-190A-4B1F-BA00-627C763E0207}" dt="2026-05-13T09:01:18.291" v="17" actId="207"/>
        <pc:sldMkLst>
          <pc:docMk/>
          <pc:sldMk cId="0" sldId="264"/>
        </pc:sldMkLst>
        <pc:spChg chg="mod">
          <ac:chgData name="Ertuğrul Burak Mataracı" userId="b8c73fbb59d485cd" providerId="LiveId" clId="{D8346C63-190A-4B1F-BA00-627C763E0207}" dt="2026-05-13T08:59:53.153" v="1" actId="692"/>
          <ac:spMkLst>
            <pc:docMk/>
            <pc:sldMk cId="0" sldId="264"/>
            <ac:spMk id="4" creationId="{00000000-0000-0000-0000-000000000000}"/>
          </ac:spMkLst>
        </pc:spChg>
        <pc:spChg chg="mod">
          <ac:chgData name="Ertuğrul Burak Mataracı" userId="b8c73fbb59d485cd" providerId="LiveId" clId="{D8346C63-190A-4B1F-BA00-627C763E0207}" dt="2026-05-13T08:59:58.397" v="2" actId="207"/>
          <ac:spMkLst>
            <pc:docMk/>
            <pc:sldMk cId="0" sldId="264"/>
            <ac:spMk id="7" creationId="{00000000-0000-0000-0000-000000000000}"/>
          </ac:spMkLst>
        </pc:spChg>
        <pc:spChg chg="mod">
          <ac:chgData name="Ertuğrul Burak Mataracı" userId="b8c73fbb59d485cd" providerId="LiveId" clId="{D8346C63-190A-4B1F-BA00-627C763E0207}" dt="2026-05-13T09:00:12.214" v="4" actId="692"/>
          <ac:spMkLst>
            <pc:docMk/>
            <pc:sldMk cId="0" sldId="264"/>
            <ac:spMk id="9" creationId="{00000000-0000-0000-0000-000000000000}"/>
          </ac:spMkLst>
        </pc:spChg>
        <pc:spChg chg="mod">
          <ac:chgData name="Ertuğrul Burak Mataracı" userId="b8c73fbb59d485cd" providerId="LiveId" clId="{D8346C63-190A-4B1F-BA00-627C763E0207}" dt="2026-05-13T09:00:15.983" v="5" actId="207"/>
          <ac:spMkLst>
            <pc:docMk/>
            <pc:sldMk cId="0" sldId="264"/>
            <ac:spMk id="12" creationId="{00000000-0000-0000-0000-000000000000}"/>
          </ac:spMkLst>
        </pc:spChg>
        <pc:spChg chg="mod">
          <ac:chgData name="Ertuğrul Burak Mataracı" userId="b8c73fbb59d485cd" providerId="LiveId" clId="{D8346C63-190A-4B1F-BA00-627C763E0207}" dt="2026-05-13T09:00:33.993" v="8" actId="692"/>
          <ac:spMkLst>
            <pc:docMk/>
            <pc:sldMk cId="0" sldId="264"/>
            <ac:spMk id="14" creationId="{00000000-0000-0000-0000-000000000000}"/>
          </ac:spMkLst>
        </pc:spChg>
        <pc:spChg chg="mod">
          <ac:chgData name="Ertuğrul Burak Mataracı" userId="b8c73fbb59d485cd" providerId="LiveId" clId="{D8346C63-190A-4B1F-BA00-627C763E0207}" dt="2026-05-13T09:00:55.767" v="12" actId="207"/>
          <ac:spMkLst>
            <pc:docMk/>
            <pc:sldMk cId="0" sldId="264"/>
            <ac:spMk id="17" creationId="{00000000-0000-0000-0000-000000000000}"/>
          </ac:spMkLst>
        </pc:spChg>
        <pc:spChg chg="mod">
          <ac:chgData name="Ertuğrul Burak Mataracı" userId="b8c73fbb59d485cd" providerId="LiveId" clId="{D8346C63-190A-4B1F-BA00-627C763E0207}" dt="2026-05-13T09:00:46.837" v="10" actId="692"/>
          <ac:spMkLst>
            <pc:docMk/>
            <pc:sldMk cId="0" sldId="264"/>
            <ac:spMk id="19" creationId="{00000000-0000-0000-0000-000000000000}"/>
          </ac:spMkLst>
        </pc:spChg>
        <pc:spChg chg="mod">
          <ac:chgData name="Ertuğrul Burak Mataracı" userId="b8c73fbb59d485cd" providerId="LiveId" clId="{D8346C63-190A-4B1F-BA00-627C763E0207}" dt="2026-05-13T09:00:51.728" v="11" actId="207"/>
          <ac:spMkLst>
            <pc:docMk/>
            <pc:sldMk cId="0" sldId="264"/>
            <ac:spMk id="22" creationId="{00000000-0000-0000-0000-000000000000}"/>
          </ac:spMkLst>
        </pc:spChg>
        <pc:spChg chg="mod">
          <ac:chgData name="Ertuğrul Burak Mataracı" userId="b8c73fbb59d485cd" providerId="LiveId" clId="{D8346C63-190A-4B1F-BA00-627C763E0207}" dt="2026-05-13T09:01:14.077" v="16" actId="692"/>
          <ac:spMkLst>
            <pc:docMk/>
            <pc:sldMk cId="0" sldId="264"/>
            <ac:spMk id="24" creationId="{00000000-0000-0000-0000-000000000000}"/>
          </ac:spMkLst>
        </pc:spChg>
        <pc:spChg chg="mod">
          <ac:chgData name="Ertuğrul Burak Mataracı" userId="b8c73fbb59d485cd" providerId="LiveId" clId="{D8346C63-190A-4B1F-BA00-627C763E0207}" dt="2026-05-13T09:01:18.291" v="17" actId="207"/>
          <ac:spMkLst>
            <pc:docMk/>
            <pc:sldMk cId="0" sldId="264"/>
            <ac:spMk id="27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3A5F"/>
                </a:solidFill>
                <a:latin typeface="Arial"/>
              </a:defRPr>
            </a:pPr>
            <a:r>
              <a:rPr lang="tr-TR" sz="1200" b="0" i="0" u="none" strike="noStrike" dirty="0" err="1">
                <a:solidFill>
                  <a:srgbClr val="5C0000"/>
                </a:solidFill>
                <a:latin typeface="Arial"/>
              </a:rPr>
              <a:t>Validation</a:t>
            </a:r>
            <a:r>
              <a:rPr lang="tr-TR" sz="1200" b="0" i="0" u="none" strike="noStrike" dirty="0">
                <a:solidFill>
                  <a:srgbClr val="5C0000"/>
                </a:solidFill>
                <a:latin typeface="Arial"/>
              </a:rPr>
              <a:t> </a:t>
            </a:r>
            <a:r>
              <a:rPr lang="tr-TR" sz="1200" b="0" i="0" u="none" strike="noStrike" dirty="0" err="1">
                <a:solidFill>
                  <a:srgbClr val="5C0000"/>
                </a:solidFill>
                <a:latin typeface="Arial"/>
              </a:rPr>
              <a:t>Metrics</a:t>
            </a:r>
            <a:r>
              <a:rPr lang="tr-TR" sz="1200" b="0" i="0" u="none" strike="noStrike" dirty="0">
                <a:solidFill>
                  <a:srgbClr val="5C0000"/>
                </a:solidFill>
                <a:latin typeface="Arial"/>
              </a:rPr>
              <a:t>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Sentinel Vision</c:v>
                </c:pt>
              </c:strCache>
            </c:strRef>
          </c:tx>
          <c:spPr>
            <a:solidFill>
              <a:srgbClr val="5C0000"/>
            </a:solidFill>
            <a:ln>
              <a:solidFill>
                <a:srgbClr val="5C0000"/>
              </a:solidFill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solidFill>
                  <a:srgbClr val="FFC00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0-74A7-4473-8CE0-8C9B09E54580}"/>
              </c:ext>
            </c:extLst>
          </c:dPt>
          <c:dPt>
            <c:idx val="2"/>
            <c:invertIfNegative val="0"/>
            <c:bubble3D val="0"/>
            <c:spPr>
              <a:solidFill>
                <a:srgbClr val="00B050"/>
              </a:solidFill>
              <a:ln>
                <a:solidFill>
                  <a:srgbClr val="00B05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74A7-4473-8CE0-8C9B09E54580}"/>
              </c:ext>
            </c:extLst>
          </c:dPt>
          <c:dPt>
            <c:idx val="3"/>
            <c:invertIfNegative val="0"/>
            <c:bubble3D val="0"/>
            <c:spPr>
              <a:solidFill>
                <a:srgbClr val="002060"/>
              </a:solidFill>
              <a:ln>
                <a:solidFill>
                  <a:srgbClr val="00206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74A7-4473-8CE0-8C9B09E54580}"/>
              </c:ext>
            </c:extLst>
          </c:dPt>
          <c:dPt>
            <c:idx val="4"/>
            <c:invertIfNegative val="0"/>
            <c:bubble3D val="0"/>
            <c:spPr>
              <a:solidFill>
                <a:srgbClr val="C23E54"/>
              </a:solidFill>
              <a:ln>
                <a:solidFill>
                  <a:srgbClr val="C23E54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74A7-4473-8CE0-8C9B09E54580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3A5F"/>
                    </a:solidFill>
                    <a:latin typeface="Arial"/>
                  </a:defRPr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Precision</c:v>
                </c:pt>
                <c:pt idx="1">
                  <c:v>Recall</c:v>
                </c:pt>
                <c:pt idx="2">
                  <c:v>mAP@0.5</c:v>
                </c:pt>
                <c:pt idx="3">
                  <c:v>mAP50-95</c:v>
                </c:pt>
                <c:pt idx="4">
                  <c:v>F1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96.43</c:v>
                </c:pt>
                <c:pt idx="1">
                  <c:v>95.04</c:v>
                </c:pt>
                <c:pt idx="2">
                  <c:v>98.44</c:v>
                </c:pt>
                <c:pt idx="3">
                  <c:v>84.65</c:v>
                </c:pt>
                <c:pt idx="4">
                  <c:v>95.73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8DF-438F-ABC7-9E221F6CC0D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chemeClr val="bg1">
        <a:lumMod val="95000"/>
      </a:schemeClr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Low (C₁)</c:v>
                </c:pt>
              </c:strCache>
            </c:strRef>
          </c:tx>
          <c:spPr>
            <a:ln>
              <a:noFill/>
            </a:ln>
            <a:effectLst/>
          </c:spPr>
          <c:marker>
            <c:symbol val="circle"/>
            <c:size val="6"/>
            <c:spPr>
              <a:solidFill>
                <a:srgbClr val="27AE60"/>
              </a:solidFill>
              <a:ln w="9525" cap="flat">
                <a:solidFill>
                  <a:srgbClr val="27AE60"/>
                </a:solidFill>
                <a:prstDash val="solid"/>
                <a:round/>
              </a:ln>
              <a:effectLst/>
            </c:spPr>
          </c:marker>
          <c:xVal>
            <c:numRef>
              <c:f>Sheet1!$A$2:$A$20</c:f>
              <c:numCache>
                <c:formatCode>General</c:formatCode>
                <c:ptCount val="19"/>
                <c:pt idx="0">
                  <c:v>0.55000000000000004</c:v>
                </c:pt>
                <c:pt idx="1">
                  <c:v>0.57999999999999996</c:v>
                </c:pt>
                <c:pt idx="2">
                  <c:v>0.62</c:v>
                </c:pt>
                <c:pt idx="3">
                  <c:v>0.65</c:v>
                </c:pt>
                <c:pt idx="4">
                  <c:v>0.51</c:v>
                </c:pt>
                <c:pt idx="5">
                  <c:v>0.68</c:v>
                </c:pt>
                <c:pt idx="6">
                  <c:v>0.6</c:v>
                </c:pt>
                <c:pt idx="7">
                  <c:v>0.78</c:v>
                </c:pt>
                <c:pt idx="8">
                  <c:v>0.82</c:v>
                </c:pt>
                <c:pt idx="9">
                  <c:v>0.75</c:v>
                </c:pt>
                <c:pt idx="10">
                  <c:v>0.8</c:v>
                </c:pt>
                <c:pt idx="11">
                  <c:v>0.85</c:v>
                </c:pt>
                <c:pt idx="12">
                  <c:v>0.72</c:v>
                </c:pt>
                <c:pt idx="13">
                  <c:v>0.92</c:v>
                </c:pt>
                <c:pt idx="14">
                  <c:v>0.95</c:v>
                </c:pt>
                <c:pt idx="15">
                  <c:v>0.97</c:v>
                </c:pt>
                <c:pt idx="16">
                  <c:v>0.91</c:v>
                </c:pt>
                <c:pt idx="17">
                  <c:v>0.93</c:v>
                </c:pt>
                <c:pt idx="18">
                  <c:v>0.98</c:v>
                </c:pt>
              </c:numCache>
            </c:numRef>
          </c:xVal>
          <c:yVal>
            <c:numRef>
              <c:f>Sheet1!$B$2:$B$20</c:f>
              <c:numCache>
                <c:formatCode>General</c:formatCode>
                <c:ptCount val="19"/>
                <c:pt idx="0">
                  <c:v>400</c:v>
                </c:pt>
                <c:pt idx="1">
                  <c:v>600</c:v>
                </c:pt>
                <c:pt idx="2">
                  <c:v>800</c:v>
                </c:pt>
                <c:pt idx="3">
                  <c:v>1200</c:v>
                </c:pt>
                <c:pt idx="4">
                  <c:v>500</c:v>
                </c:pt>
                <c:pt idx="5">
                  <c:v>1400</c:v>
                </c:pt>
                <c:pt idx="6">
                  <c:v>700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23B5-44BC-B09F-3D6EE1195C0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Medium (C₂)</c:v>
                </c:pt>
              </c:strCache>
            </c:strRef>
          </c:tx>
          <c:spPr>
            <a:ln>
              <a:noFill/>
            </a:ln>
            <a:effectLst/>
          </c:spPr>
          <c:marker>
            <c:symbol val="circle"/>
            <c:size val="6"/>
            <c:spPr>
              <a:solidFill>
                <a:srgbClr val="E67E22"/>
              </a:solidFill>
              <a:ln w="9525" cap="flat">
                <a:solidFill>
                  <a:srgbClr val="E67E22"/>
                </a:solidFill>
                <a:prstDash val="solid"/>
                <a:round/>
              </a:ln>
              <a:effectLst/>
            </c:spPr>
          </c:marker>
          <c:xVal>
            <c:numRef>
              <c:f>Sheet1!$A$2:$A$20</c:f>
              <c:numCache>
                <c:formatCode>General</c:formatCode>
                <c:ptCount val="19"/>
                <c:pt idx="0">
                  <c:v>0.55000000000000004</c:v>
                </c:pt>
                <c:pt idx="1">
                  <c:v>0.57999999999999996</c:v>
                </c:pt>
                <c:pt idx="2">
                  <c:v>0.62</c:v>
                </c:pt>
                <c:pt idx="3">
                  <c:v>0.65</c:v>
                </c:pt>
                <c:pt idx="4">
                  <c:v>0.51</c:v>
                </c:pt>
                <c:pt idx="5">
                  <c:v>0.68</c:v>
                </c:pt>
                <c:pt idx="6">
                  <c:v>0.6</c:v>
                </c:pt>
                <c:pt idx="7">
                  <c:v>0.78</c:v>
                </c:pt>
                <c:pt idx="8">
                  <c:v>0.82</c:v>
                </c:pt>
                <c:pt idx="9">
                  <c:v>0.75</c:v>
                </c:pt>
                <c:pt idx="10">
                  <c:v>0.8</c:v>
                </c:pt>
                <c:pt idx="11">
                  <c:v>0.85</c:v>
                </c:pt>
                <c:pt idx="12">
                  <c:v>0.72</c:v>
                </c:pt>
                <c:pt idx="13">
                  <c:v>0.92</c:v>
                </c:pt>
                <c:pt idx="14">
                  <c:v>0.95</c:v>
                </c:pt>
                <c:pt idx="15">
                  <c:v>0.97</c:v>
                </c:pt>
                <c:pt idx="16">
                  <c:v>0.91</c:v>
                </c:pt>
                <c:pt idx="17">
                  <c:v>0.93</c:v>
                </c:pt>
                <c:pt idx="18">
                  <c:v>0.98</c:v>
                </c:pt>
              </c:numCache>
            </c:numRef>
          </c:xVal>
          <c:yVal>
            <c:numRef>
              <c:f>Sheet1!$C$2:$C$20</c:f>
              <c:numCache>
                <c:formatCode>General</c:formatCode>
                <c:ptCount val="19"/>
                <c:pt idx="7">
                  <c:v>2500</c:v>
                </c:pt>
                <c:pt idx="8">
                  <c:v>3000</c:v>
                </c:pt>
                <c:pt idx="9">
                  <c:v>2800</c:v>
                </c:pt>
                <c:pt idx="10">
                  <c:v>3500</c:v>
                </c:pt>
                <c:pt idx="11">
                  <c:v>3800</c:v>
                </c:pt>
                <c:pt idx="12">
                  <c:v>2700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23B5-44BC-B09F-3D6EE1195C0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High (C₃)</c:v>
                </c:pt>
              </c:strCache>
            </c:strRef>
          </c:tx>
          <c:spPr>
            <a:ln>
              <a:noFill/>
            </a:ln>
            <a:effectLst/>
          </c:spPr>
          <c:marker>
            <c:symbol val="circle"/>
            <c:size val="6"/>
            <c:spPr>
              <a:solidFill>
                <a:srgbClr val="C0392B"/>
              </a:solidFill>
              <a:ln w="9525" cap="flat">
                <a:solidFill>
                  <a:srgbClr val="C0392B"/>
                </a:solidFill>
                <a:prstDash val="solid"/>
                <a:round/>
              </a:ln>
              <a:effectLst/>
            </c:spPr>
          </c:marker>
          <c:xVal>
            <c:numRef>
              <c:f>Sheet1!$A$2:$A$20</c:f>
              <c:numCache>
                <c:formatCode>General</c:formatCode>
                <c:ptCount val="19"/>
                <c:pt idx="0">
                  <c:v>0.55000000000000004</c:v>
                </c:pt>
                <c:pt idx="1">
                  <c:v>0.57999999999999996</c:v>
                </c:pt>
                <c:pt idx="2">
                  <c:v>0.62</c:v>
                </c:pt>
                <c:pt idx="3">
                  <c:v>0.65</c:v>
                </c:pt>
                <c:pt idx="4">
                  <c:v>0.51</c:v>
                </c:pt>
                <c:pt idx="5">
                  <c:v>0.68</c:v>
                </c:pt>
                <c:pt idx="6">
                  <c:v>0.6</c:v>
                </c:pt>
                <c:pt idx="7">
                  <c:v>0.78</c:v>
                </c:pt>
                <c:pt idx="8">
                  <c:v>0.82</c:v>
                </c:pt>
                <c:pt idx="9">
                  <c:v>0.75</c:v>
                </c:pt>
                <c:pt idx="10">
                  <c:v>0.8</c:v>
                </c:pt>
                <c:pt idx="11">
                  <c:v>0.85</c:v>
                </c:pt>
                <c:pt idx="12">
                  <c:v>0.72</c:v>
                </c:pt>
                <c:pt idx="13">
                  <c:v>0.92</c:v>
                </c:pt>
                <c:pt idx="14">
                  <c:v>0.95</c:v>
                </c:pt>
                <c:pt idx="15">
                  <c:v>0.97</c:v>
                </c:pt>
                <c:pt idx="16">
                  <c:v>0.91</c:v>
                </c:pt>
                <c:pt idx="17">
                  <c:v>0.93</c:v>
                </c:pt>
                <c:pt idx="18">
                  <c:v>0.98</c:v>
                </c:pt>
              </c:numCache>
            </c:numRef>
          </c:xVal>
          <c:yVal>
            <c:numRef>
              <c:f>Sheet1!$D$2:$D$20</c:f>
              <c:numCache>
                <c:formatCode>General</c:formatCode>
                <c:ptCount val="19"/>
                <c:pt idx="13">
                  <c:v>6000</c:v>
                </c:pt>
                <c:pt idx="14">
                  <c:v>7500</c:v>
                </c:pt>
                <c:pt idx="15">
                  <c:v>8200</c:v>
                </c:pt>
                <c:pt idx="16">
                  <c:v>5800</c:v>
                </c:pt>
                <c:pt idx="17">
                  <c:v>6800</c:v>
                </c:pt>
                <c:pt idx="18">
                  <c:v>8800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23B5-44BC-B09F-3D6EE1195C0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6B7280"/>
                    </a:solidFill>
                    <a:latin typeface="Arial"/>
                  </a:defRPr>
                </a:pPr>
                <a:r>
                  <a:rPr lang="tr-TR" sz="900" b="0" i="0" u="none" strike="noStrike">
                    <a:solidFill>
                      <a:srgbClr val="6B7280"/>
                    </a:solidFill>
                    <a:latin typeface="Arial"/>
                  </a:rPr>
                  <a:t>Confidence Score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crossBetween val="midCat"/>
      </c:val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6B7280"/>
                    </a:solidFill>
                    <a:latin typeface="Arial"/>
                  </a:defRPr>
                </a:pPr>
                <a:r>
                  <a:rPr lang="tr-TR" sz="900" b="0" i="0" u="none" strike="noStrike">
                    <a:solidFill>
                      <a:srgbClr val="6B7280"/>
                    </a:solidFill>
                    <a:latin typeface="Arial"/>
                  </a:rPr>
                  <a:t>BBox Area (px²)</a:t>
                </a:r>
              </a:p>
            </c:rich>
          </c:tx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1F2937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chemeClr val="bg1">
        <a:lumMod val="95000"/>
      </a:schemeClr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05549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C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14173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 Vision Suite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Weapon Detection &amp; Contextual Safety Assessment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7889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23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Gerçek Zamanlı Silah Tespiti ve Bağlamsal Güvenlik Değerlendirmesi</a:t>
            </a:r>
            <a:endParaRPr lang="en-US" sz="1600" dirty="0">
              <a:solidFill>
                <a:srgbClr val="C23E54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3200400" y="3291840"/>
            <a:ext cx="2743200" cy="27432"/>
          </a:xfrm>
          <a:prstGeom prst="rect">
            <a:avLst/>
          </a:prstGeom>
          <a:solidFill>
            <a:srgbClr val="C23E54"/>
          </a:solidFill>
          <a:ln w="12700">
            <a:solidFill>
              <a:srgbClr val="C23E5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Shape 6"/>
          <p:cNvSpPr/>
          <p:nvPr/>
        </p:nvSpPr>
        <p:spPr>
          <a:xfrm>
            <a:off x="1303020" y="3520440"/>
            <a:ext cx="1463040" cy="384048"/>
          </a:xfrm>
          <a:prstGeom prst="flowChartMagneticDisk">
            <a:avLst/>
          </a:prstGeom>
          <a:solidFill>
            <a:srgbClr val="260000"/>
          </a:solidFill>
          <a:ln w="12700">
            <a:solidFill>
              <a:srgbClr val="260000"/>
            </a:solidFill>
            <a:prstDash val="solid"/>
          </a:ln>
        </p:spPr>
        <p:txBody>
          <a:bodyPr/>
          <a:lstStyle/>
          <a:p>
            <a:endParaRPr lang="tr-TR" dirty="0"/>
          </a:p>
        </p:txBody>
      </p:sp>
      <p:sp>
        <p:nvSpPr>
          <p:cNvPr id="9" name="Text 7"/>
          <p:cNvSpPr/>
          <p:nvPr/>
        </p:nvSpPr>
        <p:spPr>
          <a:xfrm>
            <a:off x="1303020" y="35204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994660" y="3520440"/>
            <a:ext cx="1463040" cy="384048"/>
          </a:xfrm>
          <a:prstGeom prst="flowChartMagneticDisk">
            <a:avLst/>
          </a:prstGeom>
          <a:solidFill>
            <a:srgbClr val="260000"/>
          </a:solidFill>
          <a:ln w="12700">
            <a:solidFill>
              <a:srgbClr val="26000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2994660" y="35204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BLIP / VLM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86300" y="3520440"/>
            <a:ext cx="1463040" cy="384048"/>
          </a:xfrm>
          <a:prstGeom prst="flowChartMagneticDisk">
            <a:avLst/>
          </a:prstGeom>
          <a:solidFill>
            <a:srgbClr val="260000"/>
          </a:solidFill>
          <a:ln w="12700">
            <a:solidFill>
              <a:srgbClr val="26000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4686300" y="35204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FIDASS 2025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77940" y="3520440"/>
            <a:ext cx="1463040" cy="384048"/>
          </a:xfrm>
          <a:prstGeom prst="flowChartMagneticDisk">
            <a:avLst/>
          </a:prstGeom>
          <a:solidFill>
            <a:srgbClr val="260000"/>
          </a:solidFill>
          <a:ln w="12700">
            <a:solidFill>
              <a:srgbClr val="26000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6377940" y="35204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Ertuğrul Burak Mataracı  —  İlker Aydın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BİL348 · Machine Learning  ·  İstanbul Ticaret Üniversitesi  ·  2025–2026</a:t>
            </a:r>
            <a:endParaRPr lang="en-US" sz="1100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5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Tanımı  /  Problem Definition</a:t>
            </a:r>
            <a:endParaRPr lang="en-US" sz="2400" dirty="0">
              <a:solidFill>
                <a:srgbClr val="5C0000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5C0000"/>
          </a:solidFill>
          <a:ln w="12700">
            <a:solidFill>
              <a:srgbClr val="5C000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023360" cy="178308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37160" cy="1783080"/>
          </a:xfrm>
          <a:prstGeom prst="rect">
            <a:avLst/>
          </a:prstGeom>
          <a:solidFill>
            <a:srgbClr val="C23E54"/>
          </a:solidFill>
          <a:ln w="12700">
            <a:solidFill>
              <a:srgbClr val="C23E5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777240" y="121615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23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Blindness</a:t>
            </a:r>
            <a:endParaRPr lang="en-US" sz="1600" dirty="0">
              <a:solidFill>
                <a:srgbClr val="C23E54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777240" y="164592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detectors only see pixel shapes — they cannot tell if a weapon is being aimed or merely visible in background.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09160" y="1051560"/>
            <a:ext cx="4023360" cy="178308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9" name="Shape 7"/>
          <p:cNvSpPr/>
          <p:nvPr/>
        </p:nvSpPr>
        <p:spPr>
          <a:xfrm>
            <a:off x="4709160" y="1051560"/>
            <a:ext cx="137160" cy="17830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5029200" y="121615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Confusion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0" y="164592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Multi-class models (FIDASS 2025) split weapons into pistol/rifle/knife — visual similarity blurs decision boundaries.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4023360" cy="178308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137160" cy="178308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777240" y="318211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False Positive Rate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77240" y="361188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Drills, umbrellas, and tools are misclassified as weapons, overwhelming security operators with false alarms.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09160" y="3017520"/>
            <a:ext cx="4023360" cy="178308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7" name="Shape 15"/>
          <p:cNvSpPr/>
          <p:nvPr/>
        </p:nvSpPr>
        <p:spPr>
          <a:xfrm>
            <a:off x="4709160" y="3017520"/>
            <a:ext cx="137160" cy="17830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5029200" y="318211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Goal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029200" y="361188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two-stage system (YOLO + VLM) that achieves &gt;95% accuracy on FIDASS and minimizes false positives via contextual analysis.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5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Mimarisi  /  System Architecture &amp; Flowchart</a:t>
            </a:r>
            <a:endParaRPr lang="en-US" sz="2400" dirty="0">
              <a:solidFill>
                <a:srgbClr val="5C0000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5C0000"/>
          </a:solidFill>
          <a:ln w="12700">
            <a:solidFill>
              <a:srgbClr val="5C000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438912" y="1188720"/>
            <a:ext cx="1078992" cy="9601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438912" y="1188720"/>
            <a:ext cx="10789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/ Video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38912" y="2331720"/>
            <a:ext cx="1078992" cy="868680"/>
          </a:xfrm>
          <a:prstGeom prst="rect">
            <a:avLst/>
          </a:prstGeom>
          <a:solidFill>
            <a:srgbClr val="D6E8F5"/>
          </a:solidFill>
          <a:ln w="12700">
            <a:solidFill>
              <a:srgbClr val="D6E8F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438912" y="2331720"/>
            <a:ext cx="10789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CCTV camera or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uploaded media file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978408" y="2194560"/>
            <a:ext cx="0" cy="137160"/>
          </a:xfrm>
          <a:prstGeom prst="line">
            <a:avLst/>
          </a:prstGeom>
          <a:noFill/>
          <a:ln w="12700">
            <a:solidFill>
              <a:srgbClr val="6B7280"/>
            </a:solidFill>
            <a:prstDash val="dash"/>
          </a:ln>
        </p:spPr>
        <p:txBody>
          <a:bodyPr/>
          <a:lstStyle/>
          <a:p>
            <a:endParaRPr lang="tr-TR"/>
          </a:p>
        </p:txBody>
      </p:sp>
      <p:sp>
        <p:nvSpPr>
          <p:cNvPr id="9" name="Shape 7"/>
          <p:cNvSpPr/>
          <p:nvPr/>
        </p:nvSpPr>
        <p:spPr>
          <a:xfrm>
            <a:off x="1636776" y="1188720"/>
            <a:ext cx="1078992" cy="9601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1636776" y="1188720"/>
            <a:ext cx="10789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636776" y="2331720"/>
            <a:ext cx="1078992" cy="868680"/>
          </a:xfrm>
          <a:prstGeom prst="rect">
            <a:avLst/>
          </a:prstGeom>
          <a:solidFill>
            <a:srgbClr val="D6E8F5"/>
          </a:solidFill>
          <a:ln w="12700">
            <a:solidFill>
              <a:srgbClr val="D6E8F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1636776" y="2331720"/>
            <a:ext cx="10789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on FIDASS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Roboflow + Kaggle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176272" y="2194560"/>
            <a:ext cx="0" cy="137160"/>
          </a:xfrm>
          <a:prstGeom prst="line">
            <a:avLst/>
          </a:prstGeom>
          <a:noFill/>
          <a:ln w="12700">
            <a:solidFill>
              <a:srgbClr val="6B7280"/>
            </a:solidFill>
            <a:prstDash val="dash"/>
          </a:ln>
        </p:spPr>
        <p:txBody>
          <a:bodyPr/>
          <a:lstStyle/>
          <a:p>
            <a:endParaRPr lang="tr-TR"/>
          </a:p>
        </p:txBody>
      </p:sp>
      <p:sp>
        <p:nvSpPr>
          <p:cNvPr id="14" name="Shape 12"/>
          <p:cNvSpPr/>
          <p:nvPr/>
        </p:nvSpPr>
        <p:spPr>
          <a:xfrm>
            <a:off x="2834640" y="1188720"/>
            <a:ext cx="1078992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2834640" y="1188720"/>
            <a:ext cx="10789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Crop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834640" y="2331720"/>
            <a:ext cx="1078992" cy="868680"/>
          </a:xfrm>
          <a:prstGeom prst="rect">
            <a:avLst/>
          </a:prstGeom>
          <a:solidFill>
            <a:srgbClr val="D6E8F5"/>
          </a:solidFill>
          <a:ln w="12700">
            <a:solidFill>
              <a:srgbClr val="D6E8F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2834640" y="2331720"/>
            <a:ext cx="10789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Bounding-box region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interest extraction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374136" y="2194560"/>
            <a:ext cx="0" cy="137160"/>
          </a:xfrm>
          <a:prstGeom prst="line">
            <a:avLst/>
          </a:prstGeom>
          <a:noFill/>
          <a:ln w="12700">
            <a:solidFill>
              <a:srgbClr val="6B7280"/>
            </a:solidFill>
            <a:prstDash val="dash"/>
          </a:ln>
        </p:spPr>
        <p:txBody>
          <a:bodyPr/>
          <a:lstStyle/>
          <a:p>
            <a:endParaRPr lang="tr-TR"/>
          </a:p>
        </p:txBody>
      </p:sp>
      <p:sp>
        <p:nvSpPr>
          <p:cNvPr id="19" name="Shape 17"/>
          <p:cNvSpPr/>
          <p:nvPr/>
        </p:nvSpPr>
        <p:spPr>
          <a:xfrm>
            <a:off x="4032504" y="1188720"/>
            <a:ext cx="1078992" cy="96012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4032504" y="1188720"/>
            <a:ext cx="10789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BLIP / VLM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Analysis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032504" y="2331720"/>
            <a:ext cx="1078992" cy="868680"/>
          </a:xfrm>
          <a:prstGeom prst="rect">
            <a:avLst/>
          </a:prstGeom>
          <a:solidFill>
            <a:srgbClr val="E8DAEF"/>
          </a:solidFill>
          <a:ln w="12700">
            <a:solidFill>
              <a:srgbClr val="E8DAE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" name="Text 20"/>
          <p:cNvSpPr/>
          <p:nvPr/>
        </p:nvSpPr>
        <p:spPr>
          <a:xfrm>
            <a:off x="4032504" y="2331720"/>
            <a:ext cx="10789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Natural-language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caption generator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0" y="2194560"/>
            <a:ext cx="0" cy="137160"/>
          </a:xfrm>
          <a:prstGeom prst="line">
            <a:avLst/>
          </a:prstGeom>
          <a:noFill/>
          <a:ln w="12700">
            <a:solidFill>
              <a:srgbClr val="6B7280"/>
            </a:solidFill>
            <a:prstDash val="dash"/>
          </a:ln>
        </p:spPr>
        <p:txBody>
          <a:bodyPr/>
          <a:lstStyle/>
          <a:p>
            <a:endParaRPr lang="tr-TR"/>
          </a:p>
        </p:txBody>
      </p:sp>
      <p:sp>
        <p:nvSpPr>
          <p:cNvPr id="24" name="Shape 22"/>
          <p:cNvSpPr/>
          <p:nvPr/>
        </p:nvSpPr>
        <p:spPr>
          <a:xfrm>
            <a:off x="5230368" y="1188720"/>
            <a:ext cx="1078992" cy="960120"/>
          </a:xfrm>
          <a:prstGeom prst="rect">
            <a:avLst/>
          </a:prstGeom>
          <a:solidFill>
            <a:srgbClr val="C23E54"/>
          </a:solidFill>
          <a:ln w="12700">
            <a:solidFill>
              <a:srgbClr val="C0392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5" name="Text 23"/>
          <p:cNvSpPr/>
          <p:nvPr/>
        </p:nvSpPr>
        <p:spPr>
          <a:xfrm>
            <a:off x="5230368" y="1188720"/>
            <a:ext cx="10789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/ DANGER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230368" y="2331720"/>
            <a:ext cx="1078992" cy="868680"/>
          </a:xfrm>
          <a:prstGeom prst="rect">
            <a:avLst/>
          </a:prstGeom>
          <a:solidFill>
            <a:srgbClr val="FADBD8"/>
          </a:solidFill>
          <a:ln w="12700">
            <a:solidFill>
              <a:srgbClr val="FADB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7" name="Text 25"/>
          <p:cNvSpPr/>
          <p:nvPr/>
        </p:nvSpPr>
        <p:spPr>
          <a:xfrm>
            <a:off x="5230368" y="2331720"/>
            <a:ext cx="10789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analysis 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caption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769864" y="2194560"/>
            <a:ext cx="0" cy="137160"/>
          </a:xfrm>
          <a:prstGeom prst="line">
            <a:avLst/>
          </a:prstGeom>
          <a:noFill/>
          <a:ln w="12700">
            <a:solidFill>
              <a:srgbClr val="6B7280"/>
            </a:solidFill>
            <a:prstDash val="dash"/>
          </a:ln>
        </p:spPr>
        <p:txBody>
          <a:bodyPr/>
          <a:lstStyle/>
          <a:p>
            <a:endParaRPr lang="tr-TR"/>
          </a:p>
        </p:txBody>
      </p:sp>
      <p:sp>
        <p:nvSpPr>
          <p:cNvPr id="29" name="Shape 27"/>
          <p:cNvSpPr/>
          <p:nvPr/>
        </p:nvSpPr>
        <p:spPr>
          <a:xfrm>
            <a:off x="6428232" y="1188720"/>
            <a:ext cx="1078992" cy="9601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0" name="Text 28"/>
          <p:cNvSpPr/>
          <p:nvPr/>
        </p:nvSpPr>
        <p:spPr>
          <a:xfrm>
            <a:off x="6428232" y="1188720"/>
            <a:ext cx="10789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Prioritization (k=3)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428232" y="2331720"/>
            <a:ext cx="1078992" cy="868680"/>
          </a:xfrm>
          <a:prstGeom prst="rect">
            <a:avLst/>
          </a:prstGeom>
          <a:solidFill>
            <a:srgbClr val="FAE5D3"/>
          </a:solidFill>
          <a:ln w="12700">
            <a:solidFill>
              <a:srgbClr val="FAE5D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2" name="Text 30"/>
          <p:cNvSpPr/>
          <p:nvPr/>
        </p:nvSpPr>
        <p:spPr>
          <a:xfrm>
            <a:off x="6428232" y="2331720"/>
            <a:ext cx="10789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/ Medium / Active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severity clusters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967728" y="2194560"/>
            <a:ext cx="0" cy="137160"/>
          </a:xfrm>
          <a:prstGeom prst="line">
            <a:avLst/>
          </a:prstGeom>
          <a:noFill/>
          <a:ln w="12700">
            <a:solidFill>
              <a:srgbClr val="6B7280"/>
            </a:solidFill>
            <a:prstDash val="dash"/>
          </a:ln>
        </p:spPr>
        <p:txBody>
          <a:bodyPr/>
          <a:lstStyle/>
          <a:p>
            <a:endParaRPr lang="tr-TR"/>
          </a:p>
        </p:txBody>
      </p:sp>
      <p:sp>
        <p:nvSpPr>
          <p:cNvPr id="34" name="Shape 32"/>
          <p:cNvSpPr/>
          <p:nvPr/>
        </p:nvSpPr>
        <p:spPr>
          <a:xfrm>
            <a:off x="7626096" y="1188720"/>
            <a:ext cx="1078992" cy="9601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5" name="Text 33"/>
          <p:cNvSpPr/>
          <p:nvPr/>
        </p:nvSpPr>
        <p:spPr>
          <a:xfrm>
            <a:off x="7626096" y="1188720"/>
            <a:ext cx="10789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Display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7626096" y="2331720"/>
            <a:ext cx="1078992" cy="868680"/>
          </a:xfrm>
          <a:prstGeom prst="rect">
            <a:avLst/>
          </a:prstGeom>
          <a:solidFill>
            <a:srgbClr val="D5F5E3"/>
          </a:solidFill>
          <a:ln w="12700">
            <a:solidFill>
              <a:srgbClr val="D5F5E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7" name="Text 35"/>
          <p:cNvSpPr/>
          <p:nvPr/>
        </p:nvSpPr>
        <p:spPr>
          <a:xfrm>
            <a:off x="7626096" y="2331720"/>
            <a:ext cx="10789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Tracker &amp;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Assessor GUIs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8165592" y="2194560"/>
            <a:ext cx="0" cy="137160"/>
          </a:xfrm>
          <a:prstGeom prst="line">
            <a:avLst/>
          </a:prstGeom>
          <a:noFill/>
          <a:ln w="12700">
            <a:solidFill>
              <a:srgbClr val="6B7280"/>
            </a:solidFill>
            <a:prstDash val="dash"/>
          </a:ln>
        </p:spPr>
        <p:txBody>
          <a:bodyPr/>
          <a:lstStyle/>
          <a:p>
            <a:endParaRPr lang="tr-TR"/>
          </a:p>
        </p:txBody>
      </p:sp>
      <p:sp>
        <p:nvSpPr>
          <p:cNvPr id="39" name="Text 37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5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Pipeline:  Input  →  YOLOv8n Detect  →  Crop ROI  →  BLIP Caption  →  SAFE/DANGER  →  K-Means Priority  →  GUI</a:t>
            </a:r>
            <a:endParaRPr lang="en-US" sz="1400" dirty="0">
              <a:solidFill>
                <a:srgbClr val="5C0000"/>
              </a:solidFill>
            </a:endParaRPr>
          </a:p>
        </p:txBody>
      </p:sp>
      <p:sp>
        <p:nvSpPr>
          <p:cNvPr id="40" name="Shape 38"/>
          <p:cNvSpPr/>
          <p:nvPr/>
        </p:nvSpPr>
        <p:spPr>
          <a:xfrm>
            <a:off x="457200" y="4297680"/>
            <a:ext cx="8229600" cy="548640"/>
          </a:xfrm>
          <a:prstGeom prst="rect">
            <a:avLst/>
          </a:prstGeom>
          <a:solidFill>
            <a:srgbClr val="5C0000"/>
          </a:solidFill>
          <a:ln w="12700">
            <a:solidFill>
              <a:srgbClr val="5C000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1" name="Text 39"/>
          <p:cNvSpPr/>
          <p:nvPr/>
        </p:nvSpPr>
        <p:spPr>
          <a:xfrm>
            <a:off x="457200" y="42976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Two-stage architecture:  YOLOv8n (speed)  +  BLIP/VLM (semantic context)  =  high precision + low false-alarm rate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5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Seti  /  Dataset — Master Dataset</a:t>
            </a:r>
            <a:endParaRPr lang="en-US" sz="2400" dirty="0">
              <a:solidFill>
                <a:srgbClr val="5C0000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5C0000"/>
          </a:solidFill>
          <a:ln w="12700">
            <a:solidFill>
              <a:srgbClr val="5C0000"/>
            </a:solidFill>
            <a:prstDash val="solid"/>
          </a:ln>
        </p:spPr>
        <p:txBody>
          <a:bodyPr/>
          <a:lstStyle/>
          <a:p>
            <a:endParaRPr lang="tr-TR">
              <a:solidFill>
                <a:srgbClr val="260000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2468880" cy="960120"/>
          </a:xfrm>
          <a:prstGeom prst="roundRect">
            <a:avLst/>
          </a:prstGeom>
          <a:solidFill>
            <a:srgbClr val="5C0000"/>
          </a:solidFill>
          <a:ln w="12700">
            <a:solidFill>
              <a:srgbClr val="5C000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20,000+</a:t>
            </a:r>
            <a:endParaRPr lang="en-US" sz="3000" dirty="0">
              <a:solidFill>
                <a:schemeClr val="bg1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Total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3337560" y="1005840"/>
            <a:ext cx="2468880" cy="960120"/>
          </a:xfrm>
          <a:prstGeom prst="roundRect">
            <a:avLst/>
          </a:prstGeom>
          <a:solidFill>
            <a:srgbClr val="5C0000"/>
          </a:solidFill>
          <a:ln w="12700">
            <a:solidFill>
              <a:srgbClr val="5C0000"/>
            </a:solidFill>
            <a:prstDash val="solid"/>
          </a:ln>
        </p:spPr>
        <p:txBody>
          <a:bodyPr/>
          <a:lstStyle/>
          <a:p>
            <a:endParaRPr lang="tr-TR" dirty="0">
              <a:solidFill>
                <a:srgbClr val="260000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3337560" y="10515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 dirty="0">
              <a:solidFill>
                <a:schemeClr val="bg1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3337560" y="15544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Datasets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6035040" y="1005840"/>
            <a:ext cx="2468880" cy="960120"/>
          </a:xfrm>
          <a:prstGeom prst="roundRect">
            <a:avLst/>
          </a:prstGeom>
          <a:solidFill>
            <a:srgbClr val="5C0000"/>
          </a:solidFill>
          <a:ln w="12700">
            <a:solidFill>
              <a:srgbClr val="5C000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6035040" y="10515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>
              <a:solidFill>
                <a:schemeClr val="bg1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6035040" y="15544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Class (Weapon)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57200" y="2240280"/>
            <a:ext cx="8229600" cy="49377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Shape 12"/>
          <p:cNvSpPr/>
          <p:nvPr/>
        </p:nvSpPr>
        <p:spPr>
          <a:xfrm>
            <a:off x="457200" y="2240280"/>
            <a:ext cx="91440" cy="493776"/>
          </a:xfrm>
          <a:prstGeom prst="rect">
            <a:avLst/>
          </a:prstGeom>
          <a:solidFill>
            <a:srgbClr val="5C0000"/>
          </a:solidFill>
          <a:ln w="12700">
            <a:solidFill>
              <a:srgbClr val="5C000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685800" y="231343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FIDASS 2025:</a:t>
            </a:r>
            <a:endParaRPr lang="en-US" sz="1200" dirty="0">
              <a:solidFill>
                <a:srgbClr val="5C0000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2606040" y="231343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firearm dataset — peer-reviewed 2025 paper (SciTePress). Sourced from Kaggle (Murilo Santos Regio).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807208"/>
            <a:ext cx="8229600" cy="49377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Shape 16"/>
          <p:cNvSpPr/>
          <p:nvPr/>
        </p:nvSpPr>
        <p:spPr>
          <a:xfrm>
            <a:off x="457200" y="2807208"/>
            <a:ext cx="91440" cy="493776"/>
          </a:xfrm>
          <a:prstGeom prst="rect">
            <a:avLst/>
          </a:prstGeom>
          <a:solidFill>
            <a:srgbClr val="5C0000"/>
          </a:solidFill>
          <a:ln w="12700">
            <a:solidFill>
              <a:srgbClr val="5C000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/>
          <p:nvPr/>
        </p:nvSpPr>
        <p:spPr>
          <a:xfrm>
            <a:off x="685800" y="28803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Surveillance VLM:</a:t>
            </a:r>
            <a:endParaRPr lang="en-US" sz="1200" dirty="0">
              <a:solidFill>
                <a:srgbClr val="5C0000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2606040" y="28803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Surveillance-camera weapon/knife dataset with contextual scenes — Kaggle (Simuletic).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374136"/>
            <a:ext cx="8229600" cy="49377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" name="Shape 20"/>
          <p:cNvSpPr/>
          <p:nvPr/>
        </p:nvSpPr>
        <p:spPr>
          <a:xfrm>
            <a:off x="457200" y="3374136"/>
            <a:ext cx="91440" cy="493776"/>
          </a:xfrm>
          <a:prstGeom prst="rect">
            <a:avLst/>
          </a:prstGeom>
          <a:solidFill>
            <a:srgbClr val="5C0000"/>
          </a:solidFill>
          <a:ln w="12700">
            <a:solidFill>
              <a:srgbClr val="5C000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Text 21"/>
          <p:cNvSpPr/>
          <p:nvPr/>
        </p:nvSpPr>
        <p:spPr>
          <a:xfrm>
            <a:off x="685800" y="344728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Knife Detection:</a:t>
            </a:r>
            <a:endParaRPr lang="en-US" sz="1200" dirty="0">
              <a:solidFill>
                <a:srgbClr val="5C0000"/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2606040" y="344728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Cold-weapon (knife) imagery for class diversity — Roboflow Universe public dataset.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941064"/>
            <a:ext cx="8229600" cy="49377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Shape 24"/>
          <p:cNvSpPr/>
          <p:nvPr/>
        </p:nvSpPr>
        <p:spPr>
          <a:xfrm>
            <a:off x="457200" y="3941064"/>
            <a:ext cx="91440" cy="493776"/>
          </a:xfrm>
          <a:prstGeom prst="rect">
            <a:avLst/>
          </a:prstGeom>
          <a:solidFill>
            <a:srgbClr val="5C0000"/>
          </a:solidFill>
          <a:ln w="12700">
            <a:solidFill>
              <a:srgbClr val="5C000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7" name="Text 25"/>
          <p:cNvSpPr/>
          <p:nvPr/>
        </p:nvSpPr>
        <p:spPr>
          <a:xfrm>
            <a:off x="685800" y="401421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Firearm Detection:</a:t>
            </a:r>
            <a:endParaRPr lang="en-US" sz="1200" dirty="0">
              <a:solidFill>
                <a:srgbClr val="5C0000"/>
              </a:solidFill>
            </a:endParaRPr>
          </a:p>
        </p:txBody>
      </p:sp>
      <p:sp>
        <p:nvSpPr>
          <p:cNvPr id="28" name="Text 26"/>
          <p:cNvSpPr/>
          <p:nvPr/>
        </p:nvSpPr>
        <p:spPr>
          <a:xfrm>
            <a:off x="2606040" y="4014216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firearm imagery to balance class distribution — Roboflow Universe.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4572000"/>
            <a:ext cx="8229600" cy="384048"/>
          </a:xfrm>
          <a:prstGeom prst="rect">
            <a:avLst/>
          </a:prstGeom>
          <a:solidFill>
            <a:srgbClr val="C23E54"/>
          </a:solidFill>
          <a:ln w="12700">
            <a:solidFill>
              <a:srgbClr val="C23E5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0" name="Text 28"/>
          <p:cNvSpPr/>
          <p:nvPr/>
        </p:nvSpPr>
        <p:spPr>
          <a:xfrm>
            <a:off x="457200" y="45720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Single-class strategy:  fix_labels.py remaps ALL annotations → class 0 (Weapon)  →  eliminates class confusion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5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Tespit &amp; Bağlamsal Analiz  /  Detection &amp; Contextual Analysis</a:t>
            </a:r>
            <a:endParaRPr lang="en-US" sz="2400" dirty="0">
              <a:solidFill>
                <a:srgbClr val="5C0000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5C0000"/>
          </a:solidFill>
          <a:ln w="12700">
            <a:solidFill>
              <a:srgbClr val="5C000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023360" cy="384048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4023360" cy="502920"/>
          </a:xfrm>
          <a:prstGeom prst="rect">
            <a:avLst/>
          </a:prstGeom>
          <a:solidFill>
            <a:srgbClr val="5C0000"/>
          </a:solidFill>
          <a:ln w="12700">
            <a:solidFill>
              <a:srgbClr val="5C000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— YOLOv8n Detection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691640"/>
            <a:ext cx="3657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Nano variant — ~3.3M parameters, 50 MB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inference on edge devices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640×640, single-class output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Google </a:t>
            </a:r>
            <a:r>
              <a:rPr lang="en-US" sz="120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</a:t>
            </a: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tr-TR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A100 </a:t>
            </a: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16, 100 epochs, SGD + cosine LR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bounding box + confidence c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005840"/>
            <a:ext cx="4023360" cy="384048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9" name="Shape 7"/>
          <p:cNvSpPr/>
          <p:nvPr/>
        </p:nvSpPr>
        <p:spPr>
          <a:xfrm>
            <a:off x="4663440" y="1005840"/>
            <a:ext cx="4023360" cy="50292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4663440" y="100584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— BLIP / VLM Contextual Layer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691640"/>
            <a:ext cx="3657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BLIP image-captioning-base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YOLO-cropped ROI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natural-language scene caption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analyzer → SAFE / DANGER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Suppresses false positives (e.g. drills)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semantic understanding to system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3977640"/>
            <a:ext cx="3566160" cy="777240"/>
          </a:xfrm>
          <a:prstGeom prst="rect">
            <a:avLst/>
          </a:prstGeom>
          <a:solidFill>
            <a:srgbClr val="C23E54"/>
          </a:solidFill>
          <a:ln w="9525">
            <a:solidFill>
              <a:srgbClr val="5C000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777240" y="402336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output: </a:t>
            </a:r>
            <a:r>
              <a:rPr lang="en-US" sz="1000" i="1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bbox(x₁,y₁,x₂,y₂) + confidence  →  e.g. WEAPON 0.71</a:t>
            </a:r>
            <a:endParaRPr lang="en-US" sz="10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892040" y="3977640"/>
            <a:ext cx="3566160" cy="777240"/>
          </a:xfrm>
          <a:prstGeom prst="rect">
            <a:avLst/>
          </a:prstGeom>
          <a:solidFill>
            <a:srgbClr val="E8DAEF"/>
          </a:solidFill>
          <a:ln w="9525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4983480" y="402336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BLIP example: </a:t>
            </a:r>
            <a:r>
              <a:rPr lang="en-US" sz="10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man in a hospital hallway"  →  DANGER!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5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Tespit Doğruluğu  /  Detection Results — mAP &amp; Metrics</a:t>
            </a:r>
            <a:endParaRPr lang="en-US" sz="2400" dirty="0">
              <a:solidFill>
                <a:srgbClr val="5C0000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5C0000"/>
          </a:solidFill>
          <a:ln w="12700">
            <a:solidFill>
              <a:srgbClr val="5C000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3657600" cy="141732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FIDASS 2025 (Baseline)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mAP@0.5 = 42.65%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weapon sub-classes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 = 50.39%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60520" y="141732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23E54"/>
                </a:solidFill>
              </a:rPr>
              <a:t>▶</a:t>
            </a:r>
            <a:endParaRPr lang="en-US" sz="2800" dirty="0">
              <a:solidFill>
                <a:srgbClr val="C23E54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4160520" y="19202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23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+55.79</a:t>
            </a:r>
            <a:endParaRPr lang="en-US" sz="900" dirty="0">
              <a:solidFill>
                <a:srgbClr val="C23E54"/>
              </a:solidFill>
            </a:endParaRPr>
          </a:p>
          <a:p>
            <a:pPr marL="0" indent="0" algn="ctr">
              <a:buNone/>
            </a:pPr>
            <a:r>
              <a:rPr lang="en-US" sz="900" b="1" dirty="0">
                <a:solidFill>
                  <a:srgbClr val="C23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pts</a:t>
            </a:r>
            <a:endParaRPr lang="en-US" sz="900" dirty="0">
              <a:solidFill>
                <a:srgbClr val="C23E54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4663440" y="960120"/>
            <a:ext cx="4023360" cy="1417320"/>
          </a:xfrm>
          <a:prstGeom prst="rect">
            <a:avLst/>
          </a:prstGeom>
          <a:solidFill>
            <a:srgbClr val="D5F5E3"/>
          </a:solidFill>
          <a:ln w="12700">
            <a:solidFill>
              <a:srgbClr val="D5F5E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4663440" y="10058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 Vision Suite (Ours)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63440" y="141732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mAP@0.5 = 98.44%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663440" y="19202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Weapon class (unified)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 = 95.73%</a:t>
            </a:r>
            <a:endParaRPr lang="en-US" sz="1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216811"/>
              </p:ext>
            </p:extLst>
          </p:nvPr>
        </p:nvGraphicFramePr>
        <p:xfrm>
          <a:off x="457200" y="2606040"/>
          <a:ext cx="8229600" cy="1975104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FIDASS 2025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Sentinel (Ours)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Δ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Precision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52.57%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</a:rPr>
                        <a:t>96.43%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</a:rPr>
                        <a:t>+</a:t>
                      </a:r>
                      <a:r>
                        <a:rPr lang="tr-TR" sz="1100" b="1" dirty="0">
                          <a:solidFill>
                            <a:srgbClr val="27AE60"/>
                          </a:solidFill>
                        </a:rPr>
                        <a:t>41.86</a:t>
                      </a:r>
                      <a:r>
                        <a:rPr lang="en-US" sz="1100" b="1" dirty="0">
                          <a:solidFill>
                            <a:srgbClr val="27AE60"/>
                          </a:solidFill>
                        </a:rPr>
                        <a:t>% ✅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Recall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CD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48.39%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CD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</a:rPr>
                        <a:t>95.04%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CD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</a:rPr>
                        <a:t>+</a:t>
                      </a:r>
                      <a:r>
                        <a:rPr lang="tr-TR" sz="1100" b="1" dirty="0">
                          <a:solidFill>
                            <a:srgbClr val="27AE60"/>
                          </a:solidFill>
                        </a:rPr>
                        <a:t>46.65</a:t>
                      </a:r>
                      <a:r>
                        <a:rPr lang="en-US" sz="1100" b="1" dirty="0">
                          <a:solidFill>
                            <a:srgbClr val="27AE60"/>
                          </a:solidFill>
                        </a:rPr>
                        <a:t>% ✅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CD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mAP@0.5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42.65%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</a:rPr>
                        <a:t>98.44%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</a:rPr>
                        <a:t>+</a:t>
                      </a:r>
                      <a:r>
                        <a:rPr lang="tr-TR" sz="1100" b="1" dirty="0">
                          <a:solidFill>
                            <a:srgbClr val="27AE60"/>
                          </a:solidFill>
                        </a:rPr>
                        <a:t>55.79</a:t>
                      </a:r>
                      <a:r>
                        <a:rPr lang="en-US" sz="1100" b="1" dirty="0">
                          <a:solidFill>
                            <a:srgbClr val="27AE60"/>
                          </a:solidFill>
                        </a:rPr>
                        <a:t>% ✅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mAP@0.5:0.95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CD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21.07%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CD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</a:rPr>
                        <a:t>84.65%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CD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</a:rPr>
                        <a:t>+</a:t>
                      </a:r>
                      <a:r>
                        <a:rPr lang="tr-TR" sz="1100" b="1" dirty="0">
                          <a:solidFill>
                            <a:srgbClr val="27AE60"/>
                          </a:solidFill>
                        </a:rPr>
                        <a:t>63.58</a:t>
                      </a:r>
                      <a:r>
                        <a:rPr lang="en-US" sz="1100" b="1" dirty="0">
                          <a:solidFill>
                            <a:srgbClr val="27AE60"/>
                          </a:solidFill>
                        </a:rPr>
                        <a:t>% ✅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CD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F1-Score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50.39%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</a:rPr>
                        <a:t>95.73%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</a:rPr>
                        <a:t>+</a:t>
                      </a:r>
                      <a:r>
                        <a:rPr lang="tr-TR" sz="1100" b="1" dirty="0">
                          <a:solidFill>
                            <a:srgbClr val="27AE60"/>
                          </a:solidFill>
                        </a:rPr>
                        <a:t>45.34</a:t>
                      </a:r>
                      <a:r>
                        <a:rPr lang="en-US" sz="1100" b="1" dirty="0">
                          <a:solidFill>
                            <a:srgbClr val="27AE60"/>
                          </a:solidFill>
                        </a:rPr>
                        <a:t>% ✅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5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Sonuçlar  /  Results — 5 Key Metrics</a:t>
            </a:r>
            <a:endParaRPr lang="en-US" sz="2400" dirty="0">
              <a:solidFill>
                <a:srgbClr val="5C0000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5C0000"/>
          </a:solidFill>
          <a:ln w="12700">
            <a:solidFill>
              <a:srgbClr val="5C000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828800" cy="1078992"/>
          </a:xfrm>
          <a:prstGeom prst="rect">
            <a:avLst/>
          </a:prstGeom>
          <a:solidFill>
            <a:srgbClr val="5C0000"/>
          </a:solidFill>
          <a:ln w="12700">
            <a:solidFill>
              <a:srgbClr val="5C000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96.43%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5727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81051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Hassasiyet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68880" y="1005840"/>
            <a:ext cx="1828800" cy="1078992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2468880" y="10972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95.04%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468880" y="15727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468880" y="181051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Duyarlılık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212848"/>
            <a:ext cx="1828800" cy="1078992"/>
          </a:xfrm>
          <a:prstGeom prst="rect">
            <a:avLst/>
          </a:prstGeom>
          <a:solidFill>
            <a:srgbClr val="00B050"/>
          </a:solidFill>
          <a:ln w="12700">
            <a:solidFill>
              <a:srgbClr val="00B05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457200" y="230428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98.44%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57200" y="27797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mAP@0.5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30175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Avg. Prec.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491740" y="2189988"/>
            <a:ext cx="1828800" cy="1078992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2468880" y="230428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84.65%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2468880" y="27797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mAP@0.5:0.95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468880" y="30175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IoU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3396996"/>
            <a:ext cx="3840480" cy="1078992"/>
          </a:xfrm>
          <a:prstGeom prst="rect">
            <a:avLst/>
          </a:prstGeom>
          <a:solidFill>
            <a:srgbClr val="C23E54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457200" y="349300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95.73%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457200" y="39776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42062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AD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harmonic mean of Precision &amp; Recall</a:t>
            </a:r>
            <a:endParaRPr lang="en-US" sz="900" dirty="0"/>
          </a:p>
        </p:txBody>
      </p:sp>
      <p:graphicFrame>
        <p:nvGraphicFramePr>
          <p:cNvPr id="24" name="Chart 0"/>
          <p:cNvGraphicFramePr/>
          <p:nvPr>
            <p:extLst>
              <p:ext uri="{D42A27DB-BD31-4B8C-83A1-F6EECF244321}">
                <p14:modId xmlns:p14="http://schemas.microsoft.com/office/powerpoint/2010/main" val="919070262"/>
              </p:ext>
            </p:extLst>
          </p:nvPr>
        </p:nvGraphicFramePr>
        <p:xfrm>
          <a:off x="4526280" y="1005840"/>
          <a:ext cx="416052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5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Karmaşıklık Matrisi  /  Confusion Matrix &amp; K-Means</a:t>
            </a:r>
            <a:endParaRPr lang="en-US" sz="2400" dirty="0">
              <a:solidFill>
                <a:srgbClr val="5C0000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5C0000"/>
          </a:solidFill>
          <a:ln w="12700">
            <a:solidFill>
              <a:srgbClr val="5C000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(SAFE vs DANGER)</a:t>
            </a:r>
            <a:endParaRPr lang="en-US" sz="1300" dirty="0">
              <a:solidFill>
                <a:srgbClr val="5C0000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1188720" y="132588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→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88720" y="150876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0" y="150876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DANGER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219456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↓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9659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30632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188720" y="1691640"/>
            <a:ext cx="1463040" cy="1005840"/>
          </a:xfrm>
          <a:prstGeom prst="roundRect">
            <a:avLst/>
          </a:prstGeom>
          <a:solidFill>
            <a:srgbClr val="D5F5E3"/>
          </a:solidFill>
          <a:ln w="1905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1188720" y="180136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1,247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188720" y="23317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0" y="1691640"/>
            <a:ext cx="1463040" cy="1005840"/>
          </a:xfrm>
          <a:prstGeom prst="roundRect">
            <a:avLst/>
          </a:prstGeom>
          <a:solidFill>
            <a:srgbClr val="FADBD8"/>
          </a:solidFill>
          <a:ln w="1905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2743200" y="180136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2743200" y="23317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188720" y="2788920"/>
            <a:ext cx="1463040" cy="1005840"/>
          </a:xfrm>
          <a:prstGeom prst="roundRect">
            <a:avLst/>
          </a:prstGeom>
          <a:solidFill>
            <a:srgbClr val="FADBD8"/>
          </a:solidFill>
          <a:ln w="1905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1188720" y="289864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1188720" y="34290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0" y="2788920"/>
            <a:ext cx="1463040" cy="1005840"/>
          </a:xfrm>
          <a:prstGeom prst="roundRect">
            <a:avLst/>
          </a:prstGeom>
          <a:solidFill>
            <a:srgbClr val="D5F5E3"/>
          </a:solidFill>
          <a:ln w="1905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2743200" y="289864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798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2743200" y="34290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886200"/>
            <a:ext cx="4023360" cy="868680"/>
          </a:xfrm>
          <a:prstGeom prst="rect">
            <a:avLst/>
          </a:prstGeom>
          <a:solidFill>
            <a:srgbClr val="5C0000"/>
          </a:solidFill>
          <a:ln w="12700">
            <a:solidFill>
              <a:srgbClr val="5C000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" name="Text 22"/>
          <p:cNvSpPr/>
          <p:nvPr/>
        </p:nvSpPr>
        <p:spPr>
          <a:xfrm>
            <a:off x="594360" y="393192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Accuracy: </a:t>
            </a:r>
            <a:r>
              <a:rPr lang="en-US" sz="1100" b="1" dirty="0">
                <a:solidFill>
                  <a:srgbClr val="D5F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97.61% 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Specificity: 98.58%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False-Positive Rate: 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D5F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1.42%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False-Negative Rate: 3.86%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663440" y="9144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Clustering (k=3) — Threat Severity</a:t>
            </a:r>
            <a:endParaRPr lang="en-US" sz="1300" dirty="0">
              <a:solidFill>
                <a:srgbClr val="5C0000"/>
              </a:solidFill>
            </a:endParaRPr>
          </a:p>
        </p:txBody>
      </p:sp>
      <p:graphicFrame>
        <p:nvGraphicFramePr>
          <p:cNvPr id="26" name="Chart 0"/>
          <p:cNvGraphicFramePr/>
          <p:nvPr>
            <p:extLst>
              <p:ext uri="{D42A27DB-BD31-4B8C-83A1-F6EECF244321}">
                <p14:modId xmlns:p14="http://schemas.microsoft.com/office/powerpoint/2010/main" val="185274395"/>
              </p:ext>
            </p:extLst>
          </p:nvPr>
        </p:nvGraphicFramePr>
        <p:xfrm>
          <a:off x="4663440" y="1280160"/>
          <a:ext cx="402336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7" name="Shape 24"/>
          <p:cNvSpPr/>
          <p:nvPr/>
        </p:nvSpPr>
        <p:spPr>
          <a:xfrm>
            <a:off x="4663440" y="3886200"/>
            <a:ext cx="1234440" cy="86868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8" name="Text 25"/>
          <p:cNvSpPr/>
          <p:nvPr/>
        </p:nvSpPr>
        <p:spPr>
          <a:xfrm>
            <a:off x="4663440" y="393192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C₁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4663440" y="434340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/ Passive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6035040" y="3886200"/>
            <a:ext cx="1234440" cy="86868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1" name="Text 28"/>
          <p:cNvSpPr/>
          <p:nvPr/>
        </p:nvSpPr>
        <p:spPr>
          <a:xfrm>
            <a:off x="6035040" y="393192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C₂</a:t>
            </a:r>
            <a:endParaRPr lang="en-US" sz="1800" dirty="0"/>
          </a:p>
        </p:txBody>
      </p:sp>
      <p:sp>
        <p:nvSpPr>
          <p:cNvPr id="32" name="Text 29"/>
          <p:cNvSpPr/>
          <p:nvPr/>
        </p:nvSpPr>
        <p:spPr>
          <a:xfrm>
            <a:off x="6035040" y="434340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/ Alert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7406640" y="3886200"/>
            <a:ext cx="1234440" cy="86868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4" name="Text 31"/>
          <p:cNvSpPr/>
          <p:nvPr/>
        </p:nvSpPr>
        <p:spPr>
          <a:xfrm>
            <a:off x="7406640" y="393192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C₃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7406640" y="434340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/ Active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5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Adım Adım Çözüm Süreci  /  Step-by-Step Methodology</a:t>
            </a:r>
            <a:endParaRPr lang="en-US" sz="2400" dirty="0">
              <a:solidFill>
                <a:srgbClr val="5C0000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5C0000"/>
          </a:solidFill>
          <a:ln w="12700">
            <a:solidFill>
              <a:srgbClr val="5C000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731520" cy="1097280"/>
          </a:xfrm>
          <a:prstGeom prst="round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731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188720" y="1005840"/>
            <a:ext cx="3291840" cy="109728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1325880" y="111556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Literature Review</a:t>
            </a:r>
            <a:endParaRPr lang="en-US" sz="1300" dirty="0">
              <a:solidFill>
                <a:srgbClr val="00B0F0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1325880" y="1444752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context-blindness and class-confusion in weapon detection. Reviewed FIDASS 2025 (mAP=42.65%) as baseline.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9160" y="1005840"/>
            <a:ext cx="731520" cy="1097280"/>
          </a:xfrm>
          <a:prstGeom prst="round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4709160" y="1005840"/>
            <a:ext cx="731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5440680" y="1005840"/>
            <a:ext cx="3291840" cy="109728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5577840" y="111556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Preparation</a:t>
            </a:r>
            <a:endParaRPr lang="en-US" sz="1300" dirty="0">
              <a:solidFill>
                <a:schemeClr val="tx2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5577840" y="1444752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 4 sources into Master Dataset (20K+ images). Converted to YOLO format via convert_to_yolo.py; unified to single Weapon class.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286000"/>
            <a:ext cx="731520" cy="1097280"/>
          </a:xfrm>
          <a:prstGeom prst="roundRect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  <p:txBody>
          <a:bodyPr/>
          <a:lstStyle/>
          <a:p>
            <a:endParaRPr lang="tr-TR" dirty="0"/>
          </a:p>
        </p:txBody>
      </p:sp>
      <p:sp>
        <p:nvSpPr>
          <p:cNvPr id="15" name="Text 13"/>
          <p:cNvSpPr/>
          <p:nvPr/>
        </p:nvSpPr>
        <p:spPr>
          <a:xfrm>
            <a:off x="457200" y="2286000"/>
            <a:ext cx="731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1188720" y="2286000"/>
            <a:ext cx="3291840" cy="109728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1325880" y="239572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YOLOv8n Fine-Tuning</a:t>
            </a:r>
            <a:endParaRPr lang="en-US" sz="1300" dirty="0">
              <a:solidFill>
                <a:srgbClr val="7030A0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1325880" y="2724912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on Google </a:t>
            </a:r>
            <a:r>
              <a:rPr lang="en-US" sz="100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</a:t>
            </a: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tr-TR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A100</a:t>
            </a: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GPU). 100 epochs, batch 16, SGD + cosine LR. Saved best_model.pt with peak val mAP.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09160" y="2286000"/>
            <a:ext cx="731520" cy="1097280"/>
          </a:xfrm>
          <a:prstGeom prst="roundRect">
            <a:avLst/>
          </a:prstGeom>
          <a:solidFill>
            <a:srgbClr val="C23E54"/>
          </a:solidFill>
          <a:ln w="12700">
            <a:solidFill>
              <a:srgbClr val="C23E5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4709160" y="2286000"/>
            <a:ext cx="731520" cy="1097280"/>
          </a:xfrm>
          <a:prstGeom prst="round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21" name="Shape 19"/>
          <p:cNvSpPr/>
          <p:nvPr/>
        </p:nvSpPr>
        <p:spPr>
          <a:xfrm>
            <a:off x="5440680" y="2286000"/>
            <a:ext cx="3291840" cy="109728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" name="Text 20"/>
          <p:cNvSpPr/>
          <p:nvPr/>
        </p:nvSpPr>
        <p:spPr>
          <a:xfrm>
            <a:off x="5577840" y="239572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23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BLIP Integration</a:t>
            </a:r>
            <a:endParaRPr lang="en-US" sz="1300" dirty="0">
              <a:solidFill>
                <a:srgbClr val="C23E54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5577840" y="2724912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Salesforce BLIP captioning model. Built keyword classifier on generated captions to assign SAFE / DANGER labels.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566160"/>
            <a:ext cx="731520" cy="1097280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accent6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5" name="Text 23"/>
          <p:cNvSpPr/>
          <p:nvPr/>
        </p:nvSpPr>
        <p:spPr>
          <a:xfrm>
            <a:off x="457200" y="3566160"/>
            <a:ext cx="731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800" dirty="0"/>
          </a:p>
        </p:txBody>
      </p:sp>
      <p:sp>
        <p:nvSpPr>
          <p:cNvPr id="26" name="Shape 24"/>
          <p:cNvSpPr/>
          <p:nvPr/>
        </p:nvSpPr>
        <p:spPr>
          <a:xfrm>
            <a:off x="1188720" y="3566160"/>
            <a:ext cx="3291840" cy="109728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7" name="Text 25"/>
          <p:cNvSpPr/>
          <p:nvPr/>
        </p:nvSpPr>
        <p:spPr>
          <a:xfrm>
            <a:off x="1325880" y="36758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6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&amp; Evaluation</a:t>
            </a:r>
            <a:endParaRPr lang="en-US" sz="13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8" name="Text 26"/>
          <p:cNvSpPr/>
          <p:nvPr/>
        </p:nvSpPr>
        <p:spPr>
          <a:xfrm>
            <a:off x="1325880" y="4005072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K-Means (k=3) for threat prioritization. Evaluated on validation set: Precision=96.43%, mAP=98.44%, F1=95.73%.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09160" y="3566160"/>
            <a:ext cx="731520" cy="1097280"/>
          </a:xfrm>
          <a:prstGeom prst="round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0" name="Text 28"/>
          <p:cNvSpPr/>
          <p:nvPr/>
        </p:nvSpPr>
        <p:spPr>
          <a:xfrm>
            <a:off x="4709160" y="3566160"/>
            <a:ext cx="731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800" dirty="0"/>
          </a:p>
        </p:txBody>
      </p:sp>
      <p:sp>
        <p:nvSpPr>
          <p:cNvPr id="31" name="Shape 29"/>
          <p:cNvSpPr/>
          <p:nvPr/>
        </p:nvSpPr>
        <p:spPr>
          <a:xfrm>
            <a:off x="5440680" y="3566160"/>
            <a:ext cx="3291840" cy="109728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2" name="Text 30"/>
          <p:cNvSpPr/>
          <p:nvPr/>
        </p:nvSpPr>
        <p:spPr>
          <a:xfrm>
            <a:off x="5577840" y="36758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Development &amp; Comparison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577840" y="4005072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Dynamic Tracker + Safety Assessor GUIs. Compared with FIDASS 2025: surpassed all 5 metrics (</a:t>
            </a:r>
            <a:r>
              <a:rPr lang="en-US" sz="100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</a:t>
            </a: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</a:t>
            </a:r>
            <a:r>
              <a:rPr lang="tr-TR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tr-TR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</a:t>
            </a: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%).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5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  /  Conclusion</a:t>
            </a:r>
            <a:endParaRPr lang="en-US" sz="2400" dirty="0">
              <a:solidFill>
                <a:srgbClr val="5C0000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5C0000"/>
          </a:solidFill>
          <a:ln w="12700">
            <a:solidFill>
              <a:srgbClr val="5C0000"/>
            </a:solidFill>
            <a:prstDash val="solid"/>
          </a:ln>
        </p:spPr>
        <p:txBody>
          <a:bodyPr/>
          <a:lstStyle/>
          <a:p>
            <a:endParaRPr lang="tr-TR">
              <a:solidFill>
                <a:srgbClr val="260000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438912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73152" cy="438912"/>
          </a:xfrm>
          <a:prstGeom prst="rect">
            <a:avLst/>
          </a:prstGeom>
          <a:solidFill>
            <a:srgbClr val="C23E54"/>
          </a:solidFill>
          <a:ln w="12700">
            <a:solidFill>
              <a:srgbClr val="C23E5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640080" y="1051560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🎯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43000" y="1051560"/>
            <a:ext cx="7406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Accuracy:  mAP@0.5 = 98.44%   |   F1-Score = 95.73%   (FIDASS validation set)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581912"/>
            <a:ext cx="8229600" cy="438912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Shape 7"/>
          <p:cNvSpPr/>
          <p:nvPr/>
        </p:nvSpPr>
        <p:spPr>
          <a:xfrm>
            <a:off x="457200" y="1581912"/>
            <a:ext cx="73152" cy="438912"/>
          </a:xfrm>
          <a:prstGeom prst="rect">
            <a:avLst/>
          </a:prstGeom>
          <a:solidFill>
            <a:srgbClr val="C23E54"/>
          </a:solidFill>
          <a:ln w="12700">
            <a:solidFill>
              <a:srgbClr val="C23E5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640080" y="1581912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🔍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3000" y="1581912"/>
            <a:ext cx="7406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= 96.43%   |   Recall = 95.04%   |   mAP@0.5:0.95 ≈ 84.65%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112264"/>
            <a:ext cx="8229600" cy="438912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Shape 11"/>
          <p:cNvSpPr/>
          <p:nvPr/>
        </p:nvSpPr>
        <p:spPr>
          <a:xfrm>
            <a:off x="457200" y="2112264"/>
            <a:ext cx="73152" cy="438912"/>
          </a:xfrm>
          <a:prstGeom prst="rect">
            <a:avLst/>
          </a:prstGeom>
          <a:solidFill>
            <a:srgbClr val="C23E54"/>
          </a:solidFill>
          <a:ln w="12700">
            <a:solidFill>
              <a:srgbClr val="C23E5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640080" y="2112264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🏆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43000" y="2112264"/>
            <a:ext cx="7406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Outperforms FIDASS 2025 on all 5 metrics  —  mAP@0.5 by +</a:t>
            </a:r>
            <a:r>
              <a:rPr lang="tr-TR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tr-TR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</a:t>
            </a: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pts, mAP50-95 by +</a:t>
            </a:r>
            <a:r>
              <a:rPr lang="tr-TR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</a:t>
            </a: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tr-TR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642616"/>
            <a:ext cx="8229600" cy="438912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Shape 15"/>
          <p:cNvSpPr/>
          <p:nvPr/>
        </p:nvSpPr>
        <p:spPr>
          <a:xfrm>
            <a:off x="457200" y="2642616"/>
            <a:ext cx="73152" cy="438912"/>
          </a:xfrm>
          <a:prstGeom prst="rect">
            <a:avLst/>
          </a:prstGeom>
          <a:solidFill>
            <a:srgbClr val="C23E54"/>
          </a:solidFill>
          <a:ln w="12700">
            <a:solidFill>
              <a:srgbClr val="C23E5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640080" y="2642616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🧠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43000" y="2642616"/>
            <a:ext cx="7406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Two-stage architecture (YOLOv8n + BLIP/VLM) reduces false-positive rate to only 1.42%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172968"/>
            <a:ext cx="8229600" cy="438912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Shape 19"/>
          <p:cNvSpPr/>
          <p:nvPr/>
        </p:nvSpPr>
        <p:spPr>
          <a:xfrm>
            <a:off x="457200" y="3172968"/>
            <a:ext cx="73152" cy="438912"/>
          </a:xfrm>
          <a:prstGeom prst="rect">
            <a:avLst/>
          </a:prstGeom>
          <a:solidFill>
            <a:srgbClr val="C23E54"/>
          </a:solidFill>
          <a:ln w="12700">
            <a:solidFill>
              <a:srgbClr val="C23E5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" name="Text 20"/>
          <p:cNvSpPr/>
          <p:nvPr/>
        </p:nvSpPr>
        <p:spPr>
          <a:xfrm>
            <a:off x="640080" y="3172968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43000" y="3172968"/>
            <a:ext cx="7406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(k=3) prioritizes threats into Low / Medium / Active severity clusters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703320"/>
            <a:ext cx="8229600" cy="438912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5" name="Shape 23"/>
          <p:cNvSpPr/>
          <p:nvPr/>
        </p:nvSpPr>
        <p:spPr>
          <a:xfrm>
            <a:off x="457200" y="3703320"/>
            <a:ext cx="73152" cy="438912"/>
          </a:xfrm>
          <a:prstGeom prst="rect">
            <a:avLst/>
          </a:prstGeom>
          <a:solidFill>
            <a:srgbClr val="C23E54"/>
          </a:solidFill>
          <a:ln w="12700">
            <a:solidFill>
              <a:srgbClr val="C23E5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Text 24"/>
          <p:cNvSpPr/>
          <p:nvPr/>
        </p:nvSpPr>
        <p:spPr>
          <a:xfrm>
            <a:off x="640080" y="3703320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💻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43000" y="3703320"/>
            <a:ext cx="7406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production-ready GUIs:  Dynamic Tracker (real-time)  &amp;  Safety Assessor (forensic)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4233672"/>
            <a:ext cx="8229600" cy="438912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9" name="Shape 27"/>
          <p:cNvSpPr/>
          <p:nvPr/>
        </p:nvSpPr>
        <p:spPr>
          <a:xfrm>
            <a:off x="457200" y="4233672"/>
            <a:ext cx="73152" cy="438912"/>
          </a:xfrm>
          <a:prstGeom prst="rect">
            <a:avLst/>
          </a:prstGeom>
          <a:solidFill>
            <a:srgbClr val="C23E54"/>
          </a:solidFill>
          <a:ln w="12700">
            <a:solidFill>
              <a:srgbClr val="C23E5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0" name="Text 28"/>
          <p:cNvSpPr/>
          <p:nvPr/>
        </p:nvSpPr>
        <p:spPr>
          <a:xfrm>
            <a:off x="640080" y="4233672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✨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143000" y="4233672"/>
            <a:ext cx="7406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Single-class strategy (Weapon) eliminates class confusion  →  primary driver of performance gain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solidFill>
            <a:srgbClr val="5C0000"/>
          </a:solidFill>
          <a:ln w="12700">
            <a:solidFill>
              <a:srgbClr val="5C000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3" name="Text 31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Ertuğrul Burak Mataracı  &amp;  İlker Aydın   ·   BİL348 · Machine Learning   ·   İstanbul Ticaret Üniversitesi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2007 - 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1079</Words>
  <Application>Microsoft Office PowerPoint</Application>
  <PresentationFormat>Ekran Gösterisi (16:9)</PresentationFormat>
  <Paragraphs>206</Paragraphs>
  <Slides>10</Slides>
  <Notes>10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2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Sentinel Vision Suite</dc:title>
  <dc:subject>PptxGenJS Presentation</dc:subject>
  <dc:creator>Ertuğrul Burak Mataracı &amp; İlker Aydın</dc:creator>
  <cp:lastModifiedBy>Ertuğrul Burak Mataracı</cp:lastModifiedBy>
  <cp:revision>7</cp:revision>
  <dcterms:created xsi:type="dcterms:W3CDTF">2026-05-12T20:06:43Z</dcterms:created>
  <dcterms:modified xsi:type="dcterms:W3CDTF">2026-05-13T09:01:28Z</dcterms:modified>
</cp:coreProperties>
</file>